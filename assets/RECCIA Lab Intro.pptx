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9" d="100"/>
          <a:sy n="99" d="100"/>
        </p:scale>
        <p:origin x="62" y="4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04890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1A"/>
          </a:solidFill>
          <a:ln w="12700">
            <a:solidFill>
              <a:srgbClr val="0B1F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731520" y="-640080"/>
            <a:ext cx="3108960" cy="3108960"/>
          </a:xfrm>
          <a:prstGeom prst="arc">
            <a:avLst/>
          </a:prstGeom>
          <a:noFill/>
          <a:ln w="50800">
            <a:solidFill>
              <a:srgbClr val="107C41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9875520" y="4892040"/>
            <a:ext cx="3291840" cy="3291840"/>
          </a:xfrm>
          <a:prstGeom prst="arc">
            <a:avLst/>
          </a:prstGeom>
          <a:noFill/>
          <a:ln w="50800">
            <a:solidFill>
              <a:srgbClr val="00A896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4F7E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Renewable Compliance Reviewer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530352" y="941832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B7C9BD"/>
                </a:solidFill>
              </a:rPr>
              <a:t>Lab intro: multimodal Copilot Studio agent over SharePoint docs, diagrams, and Foundry reasoning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02920" y="1572768"/>
            <a:ext cx="2834640" cy="1060704"/>
          </a:xfrm>
          <a:prstGeom prst="roundRect">
            <a:avLst>
              <a:gd name="adj" fmla="val 6897"/>
            </a:avLst>
          </a:prstGeom>
          <a:solidFill>
            <a:srgbClr val="12362E">
              <a:alpha val="96000"/>
            </a:srgbClr>
          </a:solidFill>
          <a:ln w="12700">
            <a:solidFill>
              <a:srgbClr val="2E6B5B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49808" y="1773936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EEAD4"/>
                </a:solidFill>
              </a:rPr>
              <a:t>What we built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49808" y="2020824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4F7EF"/>
                </a:solidFill>
              </a:rPr>
              <a:t>A permit-readiness assistant that answers with cited text and visual evidence.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566160" y="1572768"/>
            <a:ext cx="3931920" cy="1060704"/>
          </a:xfrm>
          <a:prstGeom prst="roundRect">
            <a:avLst>
              <a:gd name="adj" fmla="val 6897"/>
            </a:avLst>
          </a:prstGeom>
          <a:solidFill>
            <a:srgbClr val="0F2A24">
              <a:alpha val="98000"/>
            </a:srgbClr>
          </a:solidFill>
          <a:ln w="12700">
            <a:solidFill>
              <a:srgbClr val="2E6B5B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822192" y="1773936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EEAD4"/>
                </a:solidFill>
              </a:rPr>
              <a:t>User questions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822192" y="2020824"/>
            <a:ext cx="3364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4F7EF"/>
                </a:solidFill>
              </a:rPr>
              <a:t>Checklists, missing permit docs, zoning constraints, fees, timelines, and diagrams.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02920" y="2907792"/>
            <a:ext cx="1536192" cy="841248"/>
          </a:xfrm>
          <a:prstGeom prst="roundRect">
            <a:avLst>
              <a:gd name="adj" fmla="val 6522"/>
            </a:avLst>
          </a:prstGeom>
          <a:solidFill>
            <a:srgbClr val="173E35">
              <a:alpha val="96000"/>
            </a:srgbClr>
          </a:solidFill>
          <a:ln w="12700">
            <a:solidFill>
              <a:srgbClr val="315E53">
                <a:alpha val="8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21792" y="3044952"/>
            <a:ext cx="1298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7EE787"/>
                </a:solidFill>
              </a:rPr>
              <a:t>15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21792" y="3401568"/>
            <a:ext cx="1261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F4F7EF"/>
                </a:solidFill>
              </a:rPr>
              <a:t>SharePoint source documents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267712" y="2907792"/>
            <a:ext cx="1536192" cy="841248"/>
          </a:xfrm>
          <a:prstGeom prst="roundRect">
            <a:avLst>
              <a:gd name="adj" fmla="val 6522"/>
            </a:avLst>
          </a:prstGeom>
          <a:solidFill>
            <a:srgbClr val="173E35">
              <a:alpha val="96000"/>
            </a:srgbClr>
          </a:solidFill>
          <a:ln w="12700">
            <a:solidFill>
              <a:srgbClr val="315E53">
                <a:alpha val="8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386584" y="3044952"/>
            <a:ext cx="1298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7EE787"/>
                </a:solidFill>
              </a:rPr>
              <a:t>1,371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2386584" y="3401568"/>
            <a:ext cx="1261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F4F7EF"/>
                </a:solidFill>
              </a:rPr>
              <a:t>searchable text chunks</a:t>
            </a:r>
            <a:endParaRPr lang="en-US" sz="780" dirty="0"/>
          </a:p>
        </p:txBody>
      </p:sp>
      <p:sp>
        <p:nvSpPr>
          <p:cNvPr id="19" name="Shape 17"/>
          <p:cNvSpPr/>
          <p:nvPr/>
        </p:nvSpPr>
        <p:spPr>
          <a:xfrm>
            <a:off x="4032504" y="2907792"/>
            <a:ext cx="1536192" cy="841248"/>
          </a:xfrm>
          <a:prstGeom prst="roundRect">
            <a:avLst>
              <a:gd name="adj" fmla="val 6522"/>
            </a:avLst>
          </a:prstGeom>
          <a:solidFill>
            <a:srgbClr val="107C41"/>
          </a:solidFill>
          <a:ln w="12700">
            <a:solidFill>
              <a:srgbClr val="7EE787">
                <a:alpha val="8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151376" y="3044952"/>
            <a:ext cx="1298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1,908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4151376" y="3401568"/>
            <a:ext cx="1261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F4F7EF"/>
                </a:solidFill>
              </a:rPr>
              <a:t>visual records indexed</a:t>
            </a:r>
            <a:endParaRPr lang="en-US" sz="780" dirty="0"/>
          </a:p>
        </p:txBody>
      </p:sp>
      <p:sp>
        <p:nvSpPr>
          <p:cNvPr id="22" name="Shape 20"/>
          <p:cNvSpPr/>
          <p:nvPr/>
        </p:nvSpPr>
        <p:spPr>
          <a:xfrm>
            <a:off x="5797296" y="2907792"/>
            <a:ext cx="1536192" cy="841248"/>
          </a:xfrm>
          <a:prstGeom prst="roundRect">
            <a:avLst>
              <a:gd name="adj" fmla="val 6522"/>
            </a:avLst>
          </a:prstGeom>
          <a:solidFill>
            <a:srgbClr val="173E35">
              <a:alpha val="96000"/>
            </a:srgbClr>
          </a:solidFill>
          <a:ln w="12700">
            <a:solidFill>
              <a:srgbClr val="315E53">
                <a:alpha val="8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916168" y="3044952"/>
            <a:ext cx="1298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7EE787"/>
                </a:solidFill>
              </a:rPr>
              <a:t>1,630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916168" y="3401568"/>
            <a:ext cx="1261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F4F7EF"/>
                </a:solidFill>
              </a:rPr>
              <a:t>Vision caption/OCR successes</a:t>
            </a:r>
            <a:endParaRPr lang="en-US" sz="780" dirty="0"/>
          </a:p>
        </p:txBody>
      </p:sp>
      <p:sp>
        <p:nvSpPr>
          <p:cNvPr id="25" name="Text 23"/>
          <p:cNvSpPr/>
          <p:nvPr/>
        </p:nvSpPr>
        <p:spPr>
          <a:xfrm>
            <a:off x="530352" y="413308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EEAD4"/>
                </a:solidFill>
              </a:rPr>
              <a:t>Pipeline in the lab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30352" y="4553712"/>
            <a:ext cx="1143000" cy="676656"/>
          </a:xfrm>
          <a:prstGeom prst="roundRect">
            <a:avLst>
              <a:gd name="adj" fmla="val 6757"/>
            </a:avLst>
          </a:prstGeom>
          <a:solidFill>
            <a:srgbClr val="15382F"/>
          </a:solidFill>
          <a:ln w="12700">
            <a:solidFill>
              <a:srgbClr val="3C6C5D">
                <a:alpha val="8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30936" y="4672584"/>
            <a:ext cx="9601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b="1" dirty="0">
                <a:solidFill>
                  <a:srgbClr val="FFFFFF"/>
                </a:solidFill>
              </a:rPr>
              <a:t>SharePoint</a:t>
            </a:r>
            <a:endParaRPr lang="en-US" sz="980" dirty="0"/>
          </a:p>
        </p:txBody>
      </p:sp>
      <p:sp>
        <p:nvSpPr>
          <p:cNvPr id="28" name="Text 26"/>
          <p:cNvSpPr/>
          <p:nvPr/>
        </p:nvSpPr>
        <p:spPr>
          <a:xfrm>
            <a:off x="630936" y="4882896"/>
            <a:ext cx="950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F4F7EF"/>
                </a:solidFill>
              </a:rPr>
              <a:t>guides, forms, PDFs</a:t>
            </a:r>
            <a:endParaRPr lang="en-US" sz="680" dirty="0"/>
          </a:p>
        </p:txBody>
      </p:sp>
      <p:sp>
        <p:nvSpPr>
          <p:cNvPr id="29" name="Shape 27"/>
          <p:cNvSpPr/>
          <p:nvPr/>
        </p:nvSpPr>
        <p:spPr>
          <a:xfrm>
            <a:off x="1700784" y="4773168"/>
            <a:ext cx="228600" cy="256032"/>
          </a:xfrm>
          <a:prstGeom prst="chevron">
            <a:avLst/>
          </a:prstGeom>
          <a:solidFill>
            <a:srgbClr val="7EE787">
              <a:alpha val="90000"/>
            </a:srgbClr>
          </a:solidFill>
          <a:ln w="12700">
            <a:solidFill>
              <a:srgbClr val="7EE78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1920240" y="4553712"/>
            <a:ext cx="1143000" cy="676656"/>
          </a:xfrm>
          <a:prstGeom prst="roundRect">
            <a:avLst>
              <a:gd name="adj" fmla="val 6757"/>
            </a:avLst>
          </a:prstGeom>
          <a:solidFill>
            <a:srgbClr val="15382F"/>
          </a:solidFill>
          <a:ln w="12700">
            <a:solidFill>
              <a:srgbClr val="3C6C5D">
                <a:alpha val="8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2020824" y="4672584"/>
            <a:ext cx="9601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b="1" dirty="0">
                <a:solidFill>
                  <a:srgbClr val="FFFFFF"/>
                </a:solidFill>
              </a:rPr>
              <a:t>DI + Vision</a:t>
            </a:r>
            <a:endParaRPr lang="en-US" sz="980" dirty="0"/>
          </a:p>
        </p:txBody>
      </p:sp>
      <p:sp>
        <p:nvSpPr>
          <p:cNvPr id="32" name="Text 30"/>
          <p:cNvSpPr/>
          <p:nvPr/>
        </p:nvSpPr>
        <p:spPr>
          <a:xfrm>
            <a:off x="2020824" y="4882896"/>
            <a:ext cx="950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F4F7EF"/>
                </a:solidFill>
              </a:rPr>
              <a:t>text, OCR, captions</a:t>
            </a:r>
            <a:endParaRPr lang="en-US" sz="680" dirty="0"/>
          </a:p>
        </p:txBody>
      </p:sp>
      <p:sp>
        <p:nvSpPr>
          <p:cNvPr id="33" name="Shape 31"/>
          <p:cNvSpPr/>
          <p:nvPr/>
        </p:nvSpPr>
        <p:spPr>
          <a:xfrm>
            <a:off x="3090672" y="4773168"/>
            <a:ext cx="228600" cy="256032"/>
          </a:xfrm>
          <a:prstGeom prst="chevron">
            <a:avLst/>
          </a:prstGeom>
          <a:solidFill>
            <a:srgbClr val="7EE787">
              <a:alpha val="90000"/>
            </a:srgbClr>
          </a:solidFill>
          <a:ln w="12700">
            <a:solidFill>
              <a:srgbClr val="7EE78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3310128" y="4553712"/>
            <a:ext cx="1143000" cy="676656"/>
          </a:xfrm>
          <a:prstGeom prst="roundRect">
            <a:avLst>
              <a:gd name="adj" fmla="val 6757"/>
            </a:avLst>
          </a:prstGeom>
          <a:solidFill>
            <a:srgbClr val="15382F"/>
          </a:solidFill>
          <a:ln w="12700">
            <a:solidFill>
              <a:srgbClr val="3C6C5D">
                <a:alpha val="8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410712" y="4672584"/>
            <a:ext cx="9601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b="1" dirty="0">
                <a:solidFill>
                  <a:srgbClr val="FFFFFF"/>
                </a:solidFill>
              </a:rPr>
              <a:t>AI Search</a:t>
            </a:r>
            <a:endParaRPr lang="en-US" sz="980" dirty="0"/>
          </a:p>
        </p:txBody>
      </p:sp>
      <p:sp>
        <p:nvSpPr>
          <p:cNvPr id="36" name="Text 34"/>
          <p:cNvSpPr/>
          <p:nvPr/>
        </p:nvSpPr>
        <p:spPr>
          <a:xfrm>
            <a:off x="3410712" y="4882896"/>
            <a:ext cx="950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F4F7EF"/>
                </a:solidFill>
              </a:rPr>
              <a:t>text + image indexes</a:t>
            </a:r>
            <a:endParaRPr lang="en-US" sz="680" dirty="0"/>
          </a:p>
        </p:txBody>
      </p:sp>
      <p:sp>
        <p:nvSpPr>
          <p:cNvPr id="37" name="Shape 35"/>
          <p:cNvSpPr/>
          <p:nvPr/>
        </p:nvSpPr>
        <p:spPr>
          <a:xfrm>
            <a:off x="4480560" y="4773168"/>
            <a:ext cx="228600" cy="256032"/>
          </a:xfrm>
          <a:prstGeom prst="chevron">
            <a:avLst/>
          </a:prstGeom>
          <a:solidFill>
            <a:srgbClr val="7EE787">
              <a:alpha val="90000"/>
            </a:srgbClr>
          </a:solidFill>
          <a:ln w="12700">
            <a:solidFill>
              <a:srgbClr val="7EE78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4700016" y="4553712"/>
            <a:ext cx="1143000" cy="676656"/>
          </a:xfrm>
          <a:prstGeom prst="roundRect">
            <a:avLst>
              <a:gd name="adj" fmla="val 6757"/>
            </a:avLst>
          </a:prstGeom>
          <a:solidFill>
            <a:srgbClr val="00A896"/>
          </a:solidFill>
          <a:ln w="12700">
            <a:solidFill>
              <a:srgbClr val="5EEAD4">
                <a:alpha val="8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800600" y="4672584"/>
            <a:ext cx="9601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b="1" dirty="0">
                <a:solidFill>
                  <a:srgbClr val="FFFFFF"/>
                </a:solidFill>
              </a:rPr>
              <a:t>Foundry</a:t>
            </a:r>
            <a:endParaRPr lang="en-US" sz="980" dirty="0"/>
          </a:p>
        </p:txBody>
      </p:sp>
      <p:sp>
        <p:nvSpPr>
          <p:cNvPr id="40" name="Text 38"/>
          <p:cNvSpPr/>
          <p:nvPr/>
        </p:nvSpPr>
        <p:spPr>
          <a:xfrm>
            <a:off x="4800600" y="4882896"/>
            <a:ext cx="950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F4F7EF"/>
                </a:solidFill>
              </a:rPr>
              <a:t>grounded reasoning</a:t>
            </a:r>
            <a:endParaRPr lang="en-US" sz="680" dirty="0"/>
          </a:p>
        </p:txBody>
      </p:sp>
      <p:sp>
        <p:nvSpPr>
          <p:cNvPr id="41" name="Shape 39"/>
          <p:cNvSpPr/>
          <p:nvPr/>
        </p:nvSpPr>
        <p:spPr>
          <a:xfrm>
            <a:off x="5870448" y="4773168"/>
            <a:ext cx="228600" cy="256032"/>
          </a:xfrm>
          <a:prstGeom prst="chevron">
            <a:avLst/>
          </a:prstGeom>
          <a:solidFill>
            <a:srgbClr val="7EE787">
              <a:alpha val="90000"/>
            </a:srgbClr>
          </a:solidFill>
          <a:ln w="12700">
            <a:solidFill>
              <a:srgbClr val="7EE78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6089904" y="4553712"/>
            <a:ext cx="1143000" cy="676656"/>
          </a:xfrm>
          <a:prstGeom prst="roundRect">
            <a:avLst>
              <a:gd name="adj" fmla="val 6757"/>
            </a:avLst>
          </a:prstGeom>
          <a:solidFill>
            <a:srgbClr val="15382F"/>
          </a:solidFill>
          <a:ln w="12700">
            <a:solidFill>
              <a:srgbClr val="3C6C5D">
                <a:alpha val="8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6190488" y="4672584"/>
            <a:ext cx="9601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b="1" dirty="0">
                <a:solidFill>
                  <a:srgbClr val="FFFFFF"/>
                </a:solidFill>
              </a:rPr>
              <a:t>Copilot Studio</a:t>
            </a:r>
            <a:endParaRPr lang="en-US" sz="980" dirty="0"/>
          </a:p>
        </p:txBody>
      </p:sp>
      <p:sp>
        <p:nvSpPr>
          <p:cNvPr id="44" name="Text 42"/>
          <p:cNvSpPr/>
          <p:nvPr/>
        </p:nvSpPr>
        <p:spPr>
          <a:xfrm>
            <a:off x="6190488" y="4882896"/>
            <a:ext cx="950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F4F7EF"/>
                </a:solidFill>
              </a:rPr>
              <a:t>lab agent UI</a:t>
            </a:r>
            <a:endParaRPr lang="en-US" sz="680" dirty="0"/>
          </a:p>
        </p:txBody>
      </p:sp>
      <p:sp>
        <p:nvSpPr>
          <p:cNvPr id="45" name="Shape 43"/>
          <p:cNvSpPr/>
          <p:nvPr/>
        </p:nvSpPr>
        <p:spPr>
          <a:xfrm>
            <a:off x="7973568" y="530352"/>
            <a:ext cx="3703320" cy="5687568"/>
          </a:xfrm>
          <a:prstGeom prst="roundRect">
            <a:avLst>
              <a:gd name="adj" fmla="val 2469"/>
            </a:avLst>
          </a:prstGeom>
          <a:solidFill>
            <a:srgbClr val="F4F7EF"/>
          </a:solidFill>
          <a:ln w="12700">
            <a:solidFill>
              <a:srgbClr val="D7E4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8302752" y="80467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7C41"/>
                </a:solidFill>
              </a:rPr>
              <a:t>Lab outcome</a:t>
            </a:r>
            <a:endParaRPr lang="en-US" sz="1500" dirty="0"/>
          </a:p>
        </p:txBody>
      </p:sp>
      <p:sp>
        <p:nvSpPr>
          <p:cNvPr id="47" name="Text 45"/>
          <p:cNvSpPr/>
          <p:nvPr/>
        </p:nvSpPr>
        <p:spPr>
          <a:xfrm>
            <a:off x="8302752" y="1316736"/>
            <a:ext cx="2980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72B24"/>
                </a:solidFill>
              </a:rPr>
              <a:t>Ask natural-language questions and get grounded answers that cite both documents and diagrams.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8302752" y="2295144"/>
            <a:ext cx="310896" cy="310896"/>
          </a:xfrm>
          <a:prstGeom prst="ellipse">
            <a:avLst/>
          </a:prstGeom>
          <a:solidFill>
            <a:srgbClr val="107C4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8403336" y="2359152"/>
            <a:ext cx="1097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</a:rPr>
              <a:t>1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8759952" y="228600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2B24"/>
                </a:solidFill>
              </a:rPr>
              <a:t>Permit readiness</a:t>
            </a:r>
            <a:endParaRPr lang="en-US" sz="1250" dirty="0"/>
          </a:p>
        </p:txBody>
      </p:sp>
      <p:sp>
        <p:nvSpPr>
          <p:cNvPr id="51" name="Text 49"/>
          <p:cNvSpPr/>
          <p:nvPr/>
        </p:nvSpPr>
        <p:spPr>
          <a:xfrm>
            <a:off x="8759952" y="2551176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51635B"/>
                </a:solidFill>
              </a:rPr>
              <a:t>What is missing before approval?</a:t>
            </a:r>
            <a:endParaRPr lang="en-US" sz="980" dirty="0"/>
          </a:p>
        </p:txBody>
      </p:sp>
      <p:sp>
        <p:nvSpPr>
          <p:cNvPr id="52" name="Shape 50"/>
          <p:cNvSpPr/>
          <p:nvPr/>
        </p:nvSpPr>
        <p:spPr>
          <a:xfrm>
            <a:off x="8302752" y="3282696"/>
            <a:ext cx="310896" cy="310896"/>
          </a:xfrm>
          <a:prstGeom prst="ellipse">
            <a:avLst/>
          </a:prstGeom>
          <a:solidFill>
            <a:srgbClr val="00A89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8403336" y="3346704"/>
            <a:ext cx="1097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</a:rPr>
              <a:t>2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8759952" y="327355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2B24"/>
                </a:solidFill>
              </a:rPr>
              <a:t>Visual evidence</a:t>
            </a:r>
            <a:endParaRPr lang="en-US" sz="1250" dirty="0"/>
          </a:p>
        </p:txBody>
      </p:sp>
      <p:sp>
        <p:nvSpPr>
          <p:cNvPr id="55" name="Text 53"/>
          <p:cNvSpPr/>
          <p:nvPr/>
        </p:nvSpPr>
        <p:spPr>
          <a:xfrm>
            <a:off x="8759952" y="3538728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51635B"/>
                </a:solidFill>
              </a:rPr>
              <a:t>Show checklists, forms, tables, diagrams.</a:t>
            </a:r>
            <a:endParaRPr lang="en-US" sz="980" dirty="0"/>
          </a:p>
        </p:txBody>
      </p:sp>
      <p:sp>
        <p:nvSpPr>
          <p:cNvPr id="56" name="Shape 54"/>
          <p:cNvSpPr/>
          <p:nvPr/>
        </p:nvSpPr>
        <p:spPr>
          <a:xfrm>
            <a:off x="8302752" y="4270248"/>
            <a:ext cx="310896" cy="310896"/>
          </a:xfrm>
          <a:prstGeom prst="ellipse">
            <a:avLst/>
          </a:prstGeom>
          <a:solidFill>
            <a:srgbClr val="107C4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8403336" y="4334256"/>
            <a:ext cx="1097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</a:rPr>
              <a:t>3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8759952" y="4261104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2B24"/>
                </a:solidFill>
              </a:rPr>
              <a:t>Traceable answers</a:t>
            </a:r>
            <a:endParaRPr lang="en-US" sz="1250" dirty="0"/>
          </a:p>
        </p:txBody>
      </p:sp>
      <p:sp>
        <p:nvSpPr>
          <p:cNvPr id="59" name="Text 57"/>
          <p:cNvSpPr/>
          <p:nvPr/>
        </p:nvSpPr>
        <p:spPr>
          <a:xfrm>
            <a:off x="8759952" y="4526280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51635B"/>
                </a:solidFill>
              </a:rPr>
              <a:t>Citations link back to SharePoint assets.</a:t>
            </a:r>
            <a:endParaRPr lang="en-US" sz="980" dirty="0"/>
          </a:p>
        </p:txBody>
      </p:sp>
      <p:sp>
        <p:nvSpPr>
          <p:cNvPr id="60" name="Shape 58"/>
          <p:cNvSpPr/>
          <p:nvPr/>
        </p:nvSpPr>
        <p:spPr>
          <a:xfrm>
            <a:off x="8302752" y="5257800"/>
            <a:ext cx="2944368" cy="530352"/>
          </a:xfrm>
          <a:prstGeom prst="roundRect">
            <a:avLst>
              <a:gd name="adj" fmla="val 12069"/>
            </a:avLst>
          </a:prstGeom>
          <a:solidFill>
            <a:srgbClr val="E7F6EF"/>
          </a:solidFill>
          <a:ln w="12700">
            <a:solidFill>
              <a:srgbClr val="B7E4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8485632" y="5394960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b="1" dirty="0">
                <a:solidFill>
                  <a:srgbClr val="107C41"/>
                </a:solidFill>
              </a:rPr>
              <a:t>Demo prompt</a:t>
            </a:r>
            <a:endParaRPr lang="en-US" sz="740" dirty="0"/>
          </a:p>
        </p:txBody>
      </p:sp>
      <p:sp>
        <p:nvSpPr>
          <p:cNvPr id="62" name="Text 60"/>
          <p:cNvSpPr/>
          <p:nvPr/>
        </p:nvSpPr>
        <p:spPr>
          <a:xfrm>
            <a:off x="9217152" y="532180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80" i="1" dirty="0">
                <a:solidFill>
                  <a:srgbClr val="172B24"/>
                </a:solidFill>
              </a:rPr>
              <a:t>"What documentation would a municipality require before approving this solar project?"</a:t>
            </a:r>
            <a:endParaRPr lang="en-US" sz="780" dirty="0"/>
          </a:p>
        </p:txBody>
      </p:sp>
      <p:sp>
        <p:nvSpPr>
          <p:cNvPr id="63" name="Text 61"/>
          <p:cNvSpPr/>
          <p:nvPr/>
        </p:nvSpPr>
        <p:spPr>
          <a:xfrm>
            <a:off x="530352" y="6364224"/>
            <a:ext cx="7863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B7C9BD"/>
                </a:solidFill>
              </a:rPr>
              <a:t>RECCIA lab | SharePoint + Document Intelligence + Vision + Azure AI Search + Foundry + Copilot Studio</a:t>
            </a:r>
            <a:endParaRPr lang="en-US" sz="8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183</Words>
  <Application>Microsoft Office PowerPoint</Application>
  <PresentationFormat>Widescreen</PresentationFormat>
  <Paragraphs>40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Aptos Display</vt:lpstr>
      <vt:lpstr>Arial</vt:lpstr>
      <vt:lpstr>Office Theme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RECCIA Lab Intro</dc:title>
  <dc:subject>Renewable Compliance Reviewer lab intro</dc:subject>
  <dc:creator>Microsoft Scout</dc:creator>
  <cp:lastModifiedBy>Alexsander Petrenko</cp:lastModifiedBy>
  <cp:revision>1</cp:revision>
  <dcterms:created xsi:type="dcterms:W3CDTF">2026-09-04T03:51:45Z</dcterms:created>
  <dcterms:modified xsi:type="dcterms:W3CDTF">2026-09-04T03:52:38Z</dcterms:modified>
</cp:coreProperties>
</file>